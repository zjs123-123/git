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豆包生图提示词：中国西南山区乡村清晨，薄雾笼罩村庄，远处层叠山峦，近处青瓦白墙农舍，纪录片电影质感，温暖自然光，真实摄影风格，横向构图，留白天空部分作为标题区，乡村肌理清晰可见，不要人物，不要文字。生成后替换背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系统UI风格用Canva辅助设计（canva.cn搜「科技UI」模板）。系统提示音用PPT自带音频录制简短提示音。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可灵AI分段提示词见文档P3。4段各5秒：①航拍喀斯特山区云雾 ②盘山公路 ③村庄近景村民劳作 ④镜头推向村口。必剪(bcut.bilibili.cn)免费剪辑。视频是关键的情绪入口。用可灵AI生成4个片段，必剪拼接。加简单转场，整体色调偏暖。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豆包提示词：中国西南山区村庄俯视图，村落沿山坡分散分布，喀斯特地貌特征，可见盘山小路连接各户，自然纪录片航拍风格数据面板用Canva辅助（canva.cn搜「信息图」模板）。数据卡片内容可根据实际情况调整。右侧面板和P2保持系统风格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村民头像用豆包生成（提示词：中国农村老年男性/女性正面肖像，60岁左右，黝黑皮肤，生活照质感）。红色警告图标可在Canva搜索「警告图标」修改颜色，或使用PPT自带图标库。消息气泡每条依次弹出（PPT「飞入」动画，间隔0.5秒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2560320"/>
            <a:ext cx="2743200" cy="2194560"/>
          </a:xfrm>
          <a:prstGeom prst="triangle">
            <a:avLst/>
          </a:prstGeom>
          <a:solidFill>
            <a:srgbClr val="2A2520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2286000"/>
            <a:ext cx="3200400" cy="2560320"/>
          </a:xfrm>
          <a:prstGeom prst="triangle">
            <a:avLst/>
          </a:prstGeom>
          <a:solidFill>
            <a:srgbClr val="252018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0" y="2377440"/>
            <a:ext cx="3657600" cy="2377440"/>
          </a:xfrm>
          <a:prstGeom prst="triangle">
            <a:avLst/>
          </a:prstGeom>
          <a:solidFill>
            <a:srgbClr val="2A2220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943600" y="2103120"/>
            <a:ext cx="4114800" cy="2743200"/>
          </a:xfrm>
          <a:prstGeom prst="triangle">
            <a:avLst/>
          </a:prstGeom>
          <a:solidFill>
            <a:srgbClr val="221D18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3474720"/>
            <a:ext cx="9144000" cy="1097280"/>
          </a:xfrm>
          <a:prstGeom prst="rect">
            <a:avLst/>
          </a:prstGeom>
          <a:solidFill>
            <a:srgbClr val="1A1510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206240"/>
            <a:ext cx="9144000" cy="941832"/>
          </a:xfrm>
          <a:prstGeom prst="rect">
            <a:avLst/>
          </a:prstGeom>
          <a:solidFill>
            <a:srgbClr val="0D0B08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251960"/>
            <a:ext cx="9144000" cy="18288"/>
          </a:xfrm>
          <a:prstGeom prst="rect">
            <a:avLst/>
          </a:prstGeom>
          <a:solidFill>
            <a:srgbClr val="3A3020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743200"/>
            <a:ext cx="9144000" cy="1371600"/>
          </a:xfrm>
          <a:prstGeom prst="rect">
            <a:avLst/>
          </a:prstGeom>
          <a:solidFill>
            <a:srgbClr val="E8E0D0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1089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《如果她（他）活到今天》</a:t>
            </a:r>
            <a:endParaRPr lang="en-US" sz="46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2286000" cy="32004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0690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4C8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AI驱动下新时代乡村共创课堂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09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文化素养+AI  |  思政×地理  |  高中段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47365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30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5080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9F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AI乡村共创系统 v2.4  │  任务状态：待启动  │  实践团编号：YLC-2024-003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685800"/>
            <a:ext cx="7680960" cy="3474720"/>
          </a:xfrm>
          <a:prstGeom prst="rect">
            <a:avLst>
              <a:gd name="adj" fmla="val 2105"/>
            </a:avLst>
          </a:prstGeom>
          <a:solidFill>
            <a:srgbClr val="151A24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685800"/>
            <a:ext cx="7680960" cy="41148"/>
          </a:xfrm>
          <a:prstGeom prst="rect">
            <a:avLst/>
          </a:prstGeom>
          <a:solidFill>
            <a:srgbClr val="3A7BD5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96012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A7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 系统提示 】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141732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欢迎进入「新时代乡村共创行动」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88720" y="192024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B0B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你们将接手一座正在推进乡村振兴的村庄。请完成以下三项核心任务：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88720" y="2514600"/>
            <a:ext cx="2286000" cy="1325880"/>
          </a:xfrm>
          <a:prstGeom prst="rect">
            <a:avLst>
              <a:gd name="adj" fmla="val 4138"/>
            </a:avLst>
          </a:prstGeom>
          <a:solidFill>
            <a:srgbClr val="1A1F2E"/>
          </a:solidFill>
          <a:ln w="6350">
            <a:solidFill>
              <a:srgbClr val="2A30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2514600"/>
            <a:ext cx="2286000" cy="36576"/>
          </a:xfrm>
          <a:prstGeom prst="rect">
            <a:avLst/>
          </a:prstGeom>
          <a:solidFill>
            <a:srgbClr val="3A7BD5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2651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7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 任务一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3017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0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群众调研与沟通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3337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了解村民真实想法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49040" y="2514600"/>
            <a:ext cx="2286000" cy="1325880"/>
          </a:xfrm>
          <a:prstGeom prst="rect">
            <a:avLst>
              <a:gd name="adj" fmla="val 4138"/>
            </a:avLst>
          </a:prstGeom>
          <a:solidFill>
            <a:srgbClr val="1A1F2E"/>
          </a:solidFill>
          <a:ln w="6350">
            <a:solidFill>
              <a:srgbClr val="2A30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2514600"/>
            <a:ext cx="2286000" cy="3657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6" name="Text 14"/>
          <p:cNvSpPr/>
          <p:nvPr/>
        </p:nvSpPr>
        <p:spPr>
          <a:xfrm>
            <a:off x="3931920" y="2651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ECD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  任务二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931920" y="3017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0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村庄问题诊断分析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31920" y="3337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从地理视角看发展瓶颈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09360" y="2514600"/>
            <a:ext cx="2286000" cy="1325880"/>
          </a:xfrm>
          <a:prstGeom prst="rect">
            <a:avLst>
              <a:gd name="adj" fmla="val 4138"/>
            </a:avLst>
          </a:prstGeom>
          <a:solidFill>
            <a:srgbClr val="1A1F2E"/>
          </a:solidFill>
          <a:ln w="6350">
            <a:solidFill>
              <a:srgbClr val="2A30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2514600"/>
            <a:ext cx="228600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2651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🏗  任务三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92240" y="3017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0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乡村共创方案设计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3337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提出可行的发展路径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188720" y="3977640"/>
            <a:ext cx="6766560" cy="54864"/>
          </a:xfrm>
          <a:prstGeom prst="rect">
            <a:avLst>
              <a:gd name="adj" fmla="val 50000"/>
            </a:avLst>
          </a:prstGeom>
          <a:solidFill>
            <a:srgbClr val="252A40"/>
          </a:solidFill>
          <a:ln/>
        </p:spPr>
      </p:sp>
      <p:sp>
        <p:nvSpPr>
          <p:cNvPr id="25" name="Shape 23"/>
          <p:cNvSpPr/>
          <p:nvPr/>
        </p:nvSpPr>
        <p:spPr>
          <a:xfrm>
            <a:off x="1188720" y="3977640"/>
            <a:ext cx="365760" cy="54864"/>
          </a:xfrm>
          <a:prstGeom prst="rect">
            <a:avLst/>
          </a:prstGeom>
          <a:solidFill>
            <a:srgbClr val="3A7BD5"/>
          </a:solidFill>
          <a:ln/>
        </p:spPr>
      </p:sp>
      <p:sp>
        <p:nvSpPr>
          <p:cNvPr id="26" name="Text 24"/>
          <p:cNvSpPr/>
          <p:nvPr/>
        </p:nvSpPr>
        <p:spPr>
          <a:xfrm>
            <a:off x="1188720" y="40507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07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系统初始化中... 5%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0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教师导入语：今天这节课，你们不只是课堂中的学生。你们将作为「新时代青年乡村共创实践团成员」，进入一个真实的乡村建设任务。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46720" y="47365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30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046720" cy="3840480"/>
          </a:xfrm>
          <a:prstGeom prst="rect">
            <a:avLst>
              <a:gd name="adj" fmla="val 1429"/>
            </a:avLst>
          </a:prstGeom>
          <a:solidFill>
            <a:srgbClr val="11161E"/>
          </a:solidFill>
          <a:ln w="19050">
            <a:solidFill>
              <a:srgbClr val="2A3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640080"/>
            <a:ext cx="7315200" cy="3017520"/>
          </a:xfrm>
          <a:prstGeom prst="rect">
            <a:avLst>
              <a:gd name="adj" fmla="val 1212"/>
            </a:avLst>
          </a:prstGeom>
          <a:solidFill>
            <a:srgbClr val="EDE8DD"/>
          </a:solidFill>
          <a:ln w="19050">
            <a:solidFill>
              <a:srgbClr val="8B6914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051560" y="777240"/>
            <a:ext cx="7040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8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📷 【AI视频 · 可灵AI】20秒短视频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878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西南山区航拍 → 云雾村庄 → 盘山公路 → 村民劳作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878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（4段×5秒，用必剪拼接）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878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工具：可灵AI (kling.kuaishou.com)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solidFill>
            <a:srgbClr val="0D1018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8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00:00 / 00:20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06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云岭村 · 西南喀斯特山区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44348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C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云岭村  ·  初印象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046720" y="47365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30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2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云岭村基础资料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2011680" cy="32004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868680"/>
            <a:ext cx="4114800" cy="2926080"/>
          </a:xfrm>
          <a:prstGeom prst="rect">
            <a:avLst>
              <a:gd name="adj" fmla="val 1250"/>
            </a:avLst>
          </a:prstGeom>
          <a:solidFill>
            <a:srgbClr val="EDE8DD"/>
          </a:solidFill>
          <a:ln w="19050">
            <a:solidFill>
              <a:srgbClr val="8B6914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8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📷 【AI生图 · 豆包】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878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云岭村俯视图 / 位置示意图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878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山区聚落沿山坡分散分布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878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喀斯特地貌特征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937760" y="868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878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村庄关键数据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280160"/>
            <a:ext cx="3931920" cy="585216"/>
          </a:xfrm>
          <a:prstGeom prst="rect">
            <a:avLst>
              <a:gd name="adj" fmla="val 7813"/>
            </a:avLst>
          </a:prstGeom>
          <a:solidFill>
            <a:srgbClr val="FFFFFF"/>
          </a:solidFill>
          <a:ln w="6350">
            <a:solidFill>
              <a:srgbClr val="E8E0D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54880" y="1353312"/>
            <a:ext cx="36576" cy="43891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10" name="Text 7"/>
          <p:cNvSpPr/>
          <p:nvPr/>
        </p:nvSpPr>
        <p:spPr>
          <a:xfrm>
            <a:off x="4983480" y="13258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8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🏘 户数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983480" y="15361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2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286户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400800" y="138988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8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分散于6个山坡片区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54880" y="1975104"/>
            <a:ext cx="3931920" cy="585216"/>
          </a:xfrm>
          <a:prstGeom prst="rect">
            <a:avLst>
              <a:gd name="adj" fmla="val 7813"/>
            </a:avLst>
          </a:prstGeom>
          <a:solidFill>
            <a:srgbClr val="FFFFFF"/>
          </a:solidFill>
          <a:ln w="6350">
            <a:solidFill>
              <a:srgbClr val="E8E0D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54880" y="2048256"/>
            <a:ext cx="36576" cy="43891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15" name="Text 12"/>
          <p:cNvSpPr/>
          <p:nvPr/>
        </p:nvSpPr>
        <p:spPr>
          <a:xfrm>
            <a:off x="4983480" y="202082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8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🍊 主要作物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983480" y="223113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2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柑橘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400800" y="208483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8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种植面积约800亩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754880" y="2670048"/>
            <a:ext cx="3931920" cy="585216"/>
          </a:xfrm>
          <a:prstGeom prst="rect">
            <a:avLst>
              <a:gd name="adj" fmla="val 7813"/>
            </a:avLst>
          </a:prstGeom>
          <a:solidFill>
            <a:srgbClr val="FFFFFF"/>
          </a:solidFill>
          <a:ln w="6350">
            <a:solidFill>
              <a:srgbClr val="E8E0D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54880" y="2743200"/>
            <a:ext cx="36576" cy="43891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20" name="Text 17"/>
          <p:cNvSpPr/>
          <p:nvPr/>
        </p:nvSpPr>
        <p:spPr>
          <a:xfrm>
            <a:off x="4983480" y="271576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8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🛣 交通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983480" y="2926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2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距县城47km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400800" y="277977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8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仅一条盘山公路连通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754880" y="3364992"/>
            <a:ext cx="3931920" cy="585216"/>
          </a:xfrm>
          <a:prstGeom prst="rect">
            <a:avLst>
              <a:gd name="adj" fmla="val 7813"/>
            </a:avLst>
          </a:prstGeom>
          <a:solidFill>
            <a:srgbClr val="FFFFFF"/>
          </a:solidFill>
          <a:ln w="6350">
            <a:solidFill>
              <a:srgbClr val="E8E0D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754880" y="3438144"/>
            <a:ext cx="36576" cy="43891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25" name="Text 22"/>
          <p:cNvSpPr/>
          <p:nvPr/>
        </p:nvSpPr>
        <p:spPr>
          <a:xfrm>
            <a:off x="4983480" y="34107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8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🌧 雨季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983480" y="36210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2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5—8月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400800" y="3474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8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年均塌方阻断3—5次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754880" y="4059936"/>
            <a:ext cx="3931920" cy="585216"/>
          </a:xfrm>
          <a:prstGeom prst="rect">
            <a:avLst>
              <a:gd name="adj" fmla="val 7813"/>
            </a:avLst>
          </a:prstGeom>
          <a:solidFill>
            <a:srgbClr val="FFFFFF"/>
          </a:solidFill>
          <a:ln w="6350">
            <a:solidFill>
              <a:srgbClr val="E8E0D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754880" y="4133088"/>
            <a:ext cx="36576" cy="43891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30" name="Text 27"/>
          <p:cNvSpPr/>
          <p:nvPr/>
        </p:nvSpPr>
        <p:spPr>
          <a:xfrm>
            <a:off x="4983480" y="410565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8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👥 青壮年外流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983480" y="43159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2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约62%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6400800" y="416966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8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常住人口以老人妇女为主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57200" y="3977640"/>
            <a:ext cx="8229600" cy="548640"/>
          </a:xfrm>
          <a:prstGeom prst="rect">
            <a:avLst>
              <a:gd name="adj" fmla="val 8333"/>
            </a:avLst>
          </a:prstGeom>
          <a:solidFill>
            <a:srgbClr val="F8F2E8"/>
          </a:solidFill>
          <a:ln/>
        </p:spPr>
      </p:sp>
      <p:sp>
        <p:nvSpPr>
          <p:cNvPr id="34" name="Text 31"/>
          <p:cNvSpPr/>
          <p:nvPr/>
        </p:nvSpPr>
        <p:spPr>
          <a:xfrm>
            <a:off x="640080" y="3977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C3D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🤔  思考：为什么一个拥有自然资源和产业基础的村庄，发展仍然困难重重？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457200" y="4663440"/>
            <a:ext cx="8229600" cy="320040"/>
          </a:xfrm>
          <a:prstGeom prst="rect">
            <a:avLst>
              <a:gd name="adj" fmla="val 8571"/>
            </a:avLst>
          </a:prstGeom>
          <a:solidFill>
            <a:srgbClr val="E8E2D8"/>
          </a:solidFill>
          <a:ln/>
        </p:spPr>
      </p:sp>
      <p:sp>
        <p:nvSpPr>
          <p:cNvPr id="36" name="Text 33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7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【系统状态】资料加载完成 | 等待任务指令...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8046720" y="47365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30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4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365760"/>
            <a:ext cx="6949440" cy="594360"/>
          </a:xfrm>
          <a:prstGeom prst="rect">
            <a:avLst>
              <a:gd name="adj" fmla="val 7692"/>
            </a:avLst>
          </a:prstGeom>
          <a:solidFill>
            <a:srgbClr val="1E1010"/>
          </a:solidFill>
          <a:ln/>
        </p:spPr>
      </p:sp>
      <p:sp>
        <p:nvSpPr>
          <p:cNvPr id="4" name="Shape 2"/>
          <p:cNvSpPr/>
          <p:nvPr/>
        </p:nvSpPr>
        <p:spPr>
          <a:xfrm>
            <a:off x="1325880" y="512064"/>
            <a:ext cx="201168" cy="201168"/>
          </a:xfrm>
          <a:prstGeom prst="ellipse">
            <a:avLst/>
          </a:prstGeom>
          <a:solidFill>
            <a:srgbClr val="D94A4A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0" y="36576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9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【当前任务状态】乡村共创行动推进失败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0" y="1188720"/>
            <a:ext cx="6400800" cy="420624"/>
          </a:xfrm>
          <a:prstGeom prst="rect">
            <a:avLst>
              <a:gd name="adj" fmla="val 6522"/>
            </a:avLst>
          </a:prstGeom>
          <a:solidFill>
            <a:srgbClr val="150C0C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1188720"/>
            <a:ext cx="6035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✘   群众不愿配合调研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1691640"/>
            <a:ext cx="6400800" cy="420624"/>
          </a:xfrm>
          <a:prstGeom prst="rect">
            <a:avLst>
              <a:gd name="adj" fmla="val 6522"/>
            </a:avLst>
          </a:prstGeom>
          <a:solidFill>
            <a:srgbClr val="150C0C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1691640"/>
            <a:ext cx="6035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✘   村民对实践团缺乏信任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71600" y="2194560"/>
            <a:ext cx="6400800" cy="420624"/>
          </a:xfrm>
          <a:prstGeom prst="rect">
            <a:avLst>
              <a:gd name="adj" fmla="val 6522"/>
            </a:avLst>
          </a:prstGeom>
          <a:solidFill>
            <a:srgbClr val="150C0C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2194560"/>
            <a:ext cx="6035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✘   产业方案推进停滞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828800" y="2788920"/>
            <a:ext cx="5486400" cy="9144"/>
          </a:xfrm>
          <a:prstGeom prst="rect">
            <a:avLst/>
          </a:prstGeom>
          <a:solidFill>
            <a:srgbClr val="3A2020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2926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68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村民反馈信息流 ——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347472" cy="347472"/>
          </a:xfrm>
          <a:prstGeom prst="ellipse">
            <a:avLst/>
          </a:prstGeom>
          <a:solidFill>
            <a:srgbClr val="2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375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D8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87552" y="3337560"/>
            <a:ext cx="3291840" cy="365760"/>
          </a:xfrm>
          <a:prstGeom prst="rect">
            <a:avLst>
              <a:gd name="adj" fmla="val 15000"/>
            </a:avLst>
          </a:prstGeom>
          <a:solidFill>
            <a:srgbClr val="2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3375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0C8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"以前也有人来调研，最后没下文。"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3703320"/>
            <a:ext cx="34747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7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张大爷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846320" y="3337560"/>
            <a:ext cx="347472" cy="347472"/>
          </a:xfrm>
          <a:prstGeom prst="ellipse">
            <a:avLst/>
          </a:prstGeom>
          <a:solidFill>
            <a:srgbClr val="1A1A2A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3375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D8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285232" y="3337560"/>
            <a:ext cx="3291840" cy="365760"/>
          </a:xfrm>
          <a:prstGeom prst="rect">
            <a:avLst>
              <a:gd name="adj" fmla="val 15000"/>
            </a:avLst>
          </a:prstGeom>
          <a:solidFill>
            <a:srgbClr val="1A1A2A"/>
          </a:solidFill>
          <a:ln/>
        </p:spPr>
      </p:sp>
      <p:sp>
        <p:nvSpPr>
          <p:cNvPr id="22" name="Text 20"/>
          <p:cNvSpPr/>
          <p:nvPr/>
        </p:nvSpPr>
        <p:spPr>
          <a:xfrm>
            <a:off x="5394960" y="33375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0C8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"你们年轻人懂农村吗？"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46320" y="3703320"/>
            <a:ext cx="34747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7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李婶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48640" y="3904488"/>
            <a:ext cx="347472" cy="347472"/>
          </a:xfrm>
          <a:prstGeom prst="ellipse">
            <a:avLst/>
          </a:prstGeom>
          <a:solidFill>
            <a:srgbClr val="1A2A1A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9044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D8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87552" y="3904488"/>
            <a:ext cx="3291840" cy="365760"/>
          </a:xfrm>
          <a:prstGeom prst="rect">
            <a:avLst>
              <a:gd name="adj" fmla="val 15000"/>
            </a:avLst>
          </a:prstGeom>
          <a:solidFill>
            <a:srgbClr val="1A2A1A"/>
          </a:solidFill>
          <a:ln/>
        </p:spPr>
      </p:sp>
      <p:sp>
        <p:nvSpPr>
          <p:cNvPr id="27" name="Text 25"/>
          <p:cNvSpPr/>
          <p:nvPr/>
        </p:nvSpPr>
        <p:spPr>
          <a:xfrm>
            <a:off x="1097280" y="390448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0C8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"产业项目以前赔过，干部说得好听。"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4270248"/>
            <a:ext cx="34747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7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王叔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846320" y="3904488"/>
            <a:ext cx="347472" cy="347472"/>
          </a:xfrm>
          <a:prstGeom prst="ellipse">
            <a:avLst/>
          </a:prstGeom>
          <a:solidFill>
            <a:srgbClr val="2A2A1A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39044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D8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285232" y="3904488"/>
            <a:ext cx="3291840" cy="365760"/>
          </a:xfrm>
          <a:prstGeom prst="rect">
            <a:avLst>
              <a:gd name="adj" fmla="val 15000"/>
            </a:avLst>
          </a:prstGeom>
          <a:solidFill>
            <a:srgbClr val="2A2A1A"/>
          </a:solidFill>
          <a:ln/>
        </p:spPr>
      </p:sp>
      <p:sp>
        <p:nvSpPr>
          <p:cNvPr id="32" name="Text 30"/>
          <p:cNvSpPr/>
          <p:nvPr/>
        </p:nvSpPr>
        <p:spPr>
          <a:xfrm>
            <a:off x="5394960" y="390448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0C8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"最后还不是我们自己承担风险？"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46320" y="4270248"/>
            <a:ext cx="34747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7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陈伯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8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教师提问：「为什么乡村建设方案还没开始，任务就已经停滞了？」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046720" y="47365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30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如果她（他）活到今天——前5页预览</dc:title>
  <dc:subject>PptxGenJS Presentation</dc:subject>
  <dc:creator>张家硕</dc:creator>
  <cp:lastModifiedBy>张家硕</cp:lastModifiedBy>
  <cp:revision>1</cp:revision>
  <dcterms:created xsi:type="dcterms:W3CDTF">2026-05-25T07:10:41Z</dcterms:created>
  <dcterms:modified xsi:type="dcterms:W3CDTF">2026-05-25T07:10:41Z</dcterms:modified>
</cp:coreProperties>
</file>